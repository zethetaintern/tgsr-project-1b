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01  Temporal Graph Sector Rotation Network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Rank NSE sectoral indices by relative-strength gain/loss conditional on regime. Core principle: direction over price; explanation over black-box ranking.</a:t>
            </a:r>
          </a:p>
        </p:txBody>
      </p:sp>
      <p:pic>
        <p:nvPicPr>
          <p:cNvPr id="4" name="Picture 3" descr="model_prog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4114800"/>
            <a:ext cx="4846320" cy="258470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02  The Cross-Sectional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Given the prevailing regime, identify sectors gaining relative strength and sectors losing it. Output = ranked sectors + edge-level rationale + uncertainty state.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03  Why Static Correlation Fails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Static correlation is symmetric, averaged across regimes and dense. The target system must adapt to structural breaks, asymmetric lead-lag and sparse informative relationships.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04  Data Universe &amp; Feature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14 intended sectors + Nifty 50/500 + USDINR + 10Y Gilt + Brent. Features: 5/21/63/252D momentum, RS, volatility, beta, breadth, valuation, macro sensitivity.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05  Graph Construction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Hybrid prior graph + learned attention. Candidate edges: Pearson, partial correlation, mutual information, Granger lead-lag and flow/co-exposure.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06  Architecture Progression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GCN → GraphSAGE → GAT → GATv2 → TGAT → EvolveGCN → Relational/Signed → RegimeMoE. Complexity survives only if ablation supports 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07  GAT / GATv2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Attention assigns different weights to different neighbours. Multi-head attention creates several relationship views; GATv2 provides more flexible query-dependent attention.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08  TGAT + Time Encoding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Learned time encoding is injected into node representations so attention depends on state and recency. Compare adaptation speed around structural breaks.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09  Dynamic / Heterogeneous / Signed Graphs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Relational edges: correlation / lead-lag / flows. Signed edges: positive / negative channels. Dynamic edges: top-k similarity from current embeddings.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10  Uncertainty &amp; Conformal Decision Rule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Act only when sector is top-k by mean score, inside conformal set, and below max predictive variance. Otherwise retain benchmark weight.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11  Edge-Level Explainability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Three primitives: attention extraction, GNNExplainer, counterfactual edge ablation. Stability: Kendall tau, top-k persistence, attention entropy.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12  Validation &amp; Ranking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Primary: cross-sectional IC. Secondary: Rank IC, NDCG@k, top-k hit rate, ICIR. All reported under expanding-window time-series CV.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13  Ablation Programme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Remove macro, volatility, edge types, temporal encoding, extra heads and heterogeneous structure one at a time. Re-measure OOS IC on identical folds.</a:t>
            </a:r>
          </a:p>
        </p:txBody>
      </p:sp>
      <p:pic>
        <p:nvPicPr>
          <p:cNvPr id="4" name="Picture 3" descr="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2926080"/>
            <a:ext cx="5303520" cy="298323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14  Adversarial &amp; Structural Stress Tests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Noise perturbation + edge perturbation. Structural tests: IL&amp;FS decorrelation, OOD regime, liquidity-shock isolation, contagion-path tracing.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15  Case Study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IL&amp;FS 2018, 2020 IT rerating, 2023–24 PSU Bank cluster, 2024 election, 2013 Taper Tantrum. Test attention reassignment, not only returns.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16  Overlay Backtest &amp; Costs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Top-k / linear / concentrated overlays. Report after-cost CAGR, active return, tracking error, IR, drawdown, turnover, sector and regime attribution.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17  Sector Compass Simulation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Eight levels from RS Ranker to Regulator’s Choice; stress-test mode replays historical rotations; coach mode reviews explanations.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18  Audit-Ready Handover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Six mandatory deliverables plus 10-minute video. Model registry stores data hash, configuration, code commit, seed, attention lineage and post-trade attribution.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